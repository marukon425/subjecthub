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929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162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47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91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8547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08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050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51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015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92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372DF-CD61-41B0-BB7A-E00ED5CD284D}" type="datetimeFigureOut">
              <a:rPr kumimoji="1" lang="ja-JP" altLang="en-US" smtClean="0"/>
              <a:t>2023/12/13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87E5B-E48F-4560-BF79-1A645B2FE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46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249281"/>
              </p:ext>
            </p:extLst>
          </p:nvPr>
        </p:nvGraphicFramePr>
        <p:xfrm>
          <a:off x="523703" y="860537"/>
          <a:ext cx="4538748" cy="27660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30976">
                  <a:extLst>
                    <a:ext uri="{9D8B030D-6E8A-4147-A177-3AD203B41FA5}">
                      <a16:colId xmlns:a16="http://schemas.microsoft.com/office/drawing/2014/main" val="3309609416"/>
                    </a:ext>
                  </a:extLst>
                </a:gridCol>
                <a:gridCol w="2742259">
                  <a:extLst>
                    <a:ext uri="{9D8B030D-6E8A-4147-A177-3AD203B41FA5}">
                      <a16:colId xmlns:a16="http://schemas.microsoft.com/office/drawing/2014/main" val="2160224728"/>
                    </a:ext>
                  </a:extLst>
                </a:gridCol>
                <a:gridCol w="465513">
                  <a:extLst>
                    <a:ext uri="{9D8B030D-6E8A-4147-A177-3AD203B41FA5}">
                      <a16:colId xmlns:a16="http://schemas.microsoft.com/office/drawing/2014/main" val="3964247283"/>
                    </a:ext>
                  </a:extLst>
                </a:gridCol>
              </a:tblGrid>
              <a:tr h="24179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列名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説明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156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radius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半径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419731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  <a:r>
                        <a:rPr lang="en-US" sz="1050" b="1">
                          <a:effectLst/>
                        </a:rPr>
                        <a:t>texture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テクスチャ</a:t>
                      </a:r>
                      <a:r>
                        <a:rPr kumimoji="1" lang="en-US" altLang="ja-JP" sz="1050" b="1" dirty="0"/>
                        <a:t>―</a:t>
                      </a:r>
                      <a:r>
                        <a:rPr kumimoji="1" lang="ja-JP" altLang="en-US" sz="1050" b="1" dirty="0"/>
                        <a:t>のグレースケールの標準偏差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72472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perimeter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外周長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070518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  <a:r>
                        <a:rPr lang="en-US" sz="1050" b="1">
                          <a:effectLst/>
                        </a:rPr>
                        <a:t>area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/>
                        <a:t>面積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326405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smoothness</a:t>
                      </a:r>
                      <a:endParaRPr kumimoji="1" lang="ja-JP" altLang="en-US" sz="1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中心から外周までの部分偏差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587289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9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  <a:r>
                        <a:rPr kumimoji="1" lang="en-US" altLang="ja-JP" sz="900" b="1"/>
                        <a:t>compactness</a:t>
                      </a:r>
                      <a:endParaRPr kumimoji="1" lang="ja-JP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コンパクト性（外周長 </a:t>
                      </a:r>
                      <a:r>
                        <a:rPr kumimoji="1" lang="en-US" altLang="ja-JP" sz="1050" b="1" dirty="0"/>
                        <a:t>2÷ </a:t>
                      </a:r>
                      <a:r>
                        <a:rPr kumimoji="1" lang="ja-JP" altLang="en-US" sz="1050" b="1" dirty="0"/>
                        <a:t>面積－</a:t>
                      </a:r>
                      <a:r>
                        <a:rPr kumimoji="1" lang="en-US" altLang="ja-JP" sz="1050" b="1" dirty="0"/>
                        <a:t>1.0</a:t>
                      </a:r>
                      <a:r>
                        <a:rPr kumimoji="1" lang="ja-JP" altLang="en-US" sz="1050" b="1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356094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  <a:r>
                        <a:rPr kumimoji="1" lang="en-US" altLang="ja-JP" sz="1050" b="1"/>
                        <a:t>concavity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コンターの凹部強度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745432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  <a:r>
                        <a:rPr kumimoji="1" lang="en-US" altLang="ja-JP" sz="800" b="1"/>
                        <a:t>concave </a:t>
                      </a:r>
                      <a:r>
                        <a:rPr kumimoji="1" lang="en-US" altLang="ja-JP" sz="800" b="1" dirty="0"/>
                        <a:t>points</a:t>
                      </a:r>
                      <a:endParaRPr kumimoji="1" lang="ja-JP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コンターの凹点の数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796856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  <a:r>
                        <a:rPr kumimoji="1" lang="en-US" altLang="ja-JP" sz="1050" b="1"/>
                        <a:t>symmetry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対称性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358171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7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  <a:r>
                        <a:rPr kumimoji="1" lang="en-US" altLang="ja-JP" sz="700" b="1"/>
                        <a:t>fractal </a:t>
                      </a:r>
                      <a:r>
                        <a:rPr kumimoji="1" lang="en-US" altLang="ja-JP" sz="700" b="1" dirty="0"/>
                        <a:t>dimension</a:t>
                      </a:r>
                      <a:endParaRPr kumimoji="1" lang="ja-JP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フラクタル次元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平均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420211"/>
                  </a:ext>
                </a:extLst>
              </a:tr>
            </a:tbl>
          </a:graphicData>
        </a:graphic>
      </p:graphicFrame>
      <p:sp>
        <p:nvSpPr>
          <p:cNvPr id="4" name="正方形/長方形 3"/>
          <p:cNvSpPr/>
          <p:nvPr/>
        </p:nvSpPr>
        <p:spPr>
          <a:xfrm>
            <a:off x="1274196" y="249382"/>
            <a:ext cx="2942705" cy="4073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/>
              <a:t>breast_cancer.csv</a:t>
            </a:r>
            <a:endParaRPr kumimoji="1" lang="ja-JP" altLang="en-US" b="1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706225" y="4015047"/>
            <a:ext cx="6056591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特徴量から、その人の腫瘍が良性か悪性を判断</a:t>
            </a:r>
            <a:r>
              <a:rPr lang="ja-JP" altLang="en-US" b="1" dirty="0"/>
              <a:t>します。</a:t>
            </a:r>
            <a:endParaRPr kumimoji="1" lang="en-US" altLang="ja-JP" b="1" dirty="0"/>
          </a:p>
          <a:p>
            <a:r>
              <a:rPr lang="en-US" altLang="ja-JP" b="1" dirty="0"/>
              <a:t>target = 0	</a:t>
            </a:r>
            <a:r>
              <a:rPr lang="ja-JP" altLang="en-US" b="1" dirty="0"/>
              <a:t>悪性</a:t>
            </a:r>
            <a:endParaRPr lang="en-US" altLang="ja-JP" b="1" dirty="0"/>
          </a:p>
          <a:p>
            <a:r>
              <a:rPr lang="en-US" altLang="ja-JP" b="1" dirty="0"/>
              <a:t>t</a:t>
            </a:r>
            <a:r>
              <a:rPr kumimoji="1" lang="en-US" altLang="ja-JP" b="1" dirty="0"/>
              <a:t>arget = 1	</a:t>
            </a:r>
            <a:r>
              <a:rPr kumimoji="1" lang="ja-JP" altLang="en-US" b="1" dirty="0"/>
              <a:t>良性</a:t>
            </a: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85748"/>
              </p:ext>
            </p:extLst>
          </p:nvPr>
        </p:nvGraphicFramePr>
        <p:xfrm>
          <a:off x="5322918" y="860537"/>
          <a:ext cx="5034740" cy="27660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75381">
                  <a:extLst>
                    <a:ext uri="{9D8B030D-6E8A-4147-A177-3AD203B41FA5}">
                      <a16:colId xmlns:a16="http://schemas.microsoft.com/office/drawing/2014/main" val="3309609416"/>
                    </a:ext>
                  </a:extLst>
                </a:gridCol>
                <a:gridCol w="2736399">
                  <a:extLst>
                    <a:ext uri="{9D8B030D-6E8A-4147-A177-3AD203B41FA5}">
                      <a16:colId xmlns:a16="http://schemas.microsoft.com/office/drawing/2014/main" val="216022472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964247283"/>
                    </a:ext>
                  </a:extLst>
                </a:gridCol>
              </a:tblGrid>
              <a:tr h="24179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列名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説明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156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radius error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半径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419731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lang="en-US" sz="1050" b="1">
                          <a:effectLst/>
                        </a:rPr>
                        <a:t>texture error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テクスチャ</a:t>
                      </a:r>
                      <a:r>
                        <a:rPr kumimoji="1" lang="en-US" altLang="ja-JP" sz="1050" b="1" dirty="0"/>
                        <a:t>―</a:t>
                      </a:r>
                      <a:r>
                        <a:rPr kumimoji="1" lang="ja-JP" altLang="en-US" sz="1050" b="1" dirty="0"/>
                        <a:t>のグレースケールの標準偏差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72472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perimeter error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外周長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070518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lang="en-US" sz="1050" b="1">
                          <a:effectLst/>
                        </a:rPr>
                        <a:t>area error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/>
                        <a:t>面積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326405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smoothness error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中心から外周までの部分偏差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587289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/>
                        <a:t>compactness error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コンパクト性（外周長 </a:t>
                      </a:r>
                      <a:r>
                        <a:rPr kumimoji="1" lang="en-US" altLang="ja-JP" sz="1050" b="1" dirty="0"/>
                        <a:t>2÷ </a:t>
                      </a:r>
                      <a:r>
                        <a:rPr kumimoji="1" lang="ja-JP" altLang="en-US" sz="1050" b="1" dirty="0"/>
                        <a:t>面積－</a:t>
                      </a:r>
                      <a:r>
                        <a:rPr kumimoji="1" lang="en-US" altLang="ja-JP" sz="1050" b="1" dirty="0"/>
                        <a:t>1.0</a:t>
                      </a:r>
                      <a:r>
                        <a:rPr kumimoji="1" lang="ja-JP" altLang="en-US" sz="1050" b="1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356094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/>
                        <a:t>concavity error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コンターの凹部強度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745432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00" b="1"/>
                        <a:t>concave points error</a:t>
                      </a:r>
                      <a:endParaRPr kumimoji="1" lang="ja-JP" altLang="en-US" sz="1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コンターの凹点の数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796856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/>
                        <a:t>symmetry error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対称性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358171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900" b="1"/>
                        <a:t>fractal dimension error</a:t>
                      </a:r>
                      <a:endParaRPr kumimoji="1" lang="ja-JP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フラクタル次元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420211"/>
                  </a:ext>
                </a:extLst>
              </a:tr>
            </a:tbl>
          </a:graphicData>
        </a:graphic>
      </p:graphicFrame>
      <p:graphicFrame>
        <p:nvGraphicFramePr>
          <p:cNvPr id="8" name="表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655275"/>
              </p:ext>
            </p:extLst>
          </p:nvPr>
        </p:nvGraphicFramePr>
        <p:xfrm>
          <a:off x="523702" y="3898669"/>
          <a:ext cx="4799216" cy="27660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363">
                  <a:extLst>
                    <a:ext uri="{9D8B030D-6E8A-4147-A177-3AD203B41FA5}">
                      <a16:colId xmlns:a16="http://schemas.microsoft.com/office/drawing/2014/main" val="3309609416"/>
                    </a:ext>
                  </a:extLst>
                </a:gridCol>
                <a:gridCol w="2725062">
                  <a:extLst>
                    <a:ext uri="{9D8B030D-6E8A-4147-A177-3AD203B41FA5}">
                      <a16:colId xmlns:a16="http://schemas.microsoft.com/office/drawing/2014/main" val="2160224728"/>
                    </a:ext>
                  </a:extLst>
                </a:gridCol>
                <a:gridCol w="667791">
                  <a:extLst>
                    <a:ext uri="{9D8B030D-6E8A-4147-A177-3AD203B41FA5}">
                      <a16:colId xmlns:a16="http://schemas.microsoft.com/office/drawing/2014/main" val="3964247283"/>
                    </a:ext>
                  </a:extLst>
                </a:gridCol>
              </a:tblGrid>
              <a:tr h="24179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列名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/>
                        <a:t>説明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156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worst radius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半径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419731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lang="en-US" sz="1050" b="1">
                          <a:effectLst/>
                        </a:rPr>
                        <a:t>worst texture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テクスチャ</a:t>
                      </a:r>
                      <a:r>
                        <a:rPr kumimoji="1" lang="en-US" altLang="ja-JP" sz="1050" b="1" dirty="0"/>
                        <a:t>―</a:t>
                      </a:r>
                      <a:r>
                        <a:rPr kumimoji="1" lang="ja-JP" altLang="en-US" sz="1050" b="1" dirty="0"/>
                        <a:t>のグレースケールの標準偏差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72472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worst perimeter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外周長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070518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lang="en-US" sz="1050" b="1">
                          <a:effectLst/>
                        </a:rPr>
                        <a:t>worst area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/>
                        <a:t>面積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9326405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worst smoothness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中心から外周までの部分偏差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587289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00" b="1"/>
                        <a:t>worst compactness</a:t>
                      </a:r>
                      <a:endParaRPr kumimoji="1" lang="ja-JP" altLang="en-US" sz="1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コンパクト性（外周長 </a:t>
                      </a:r>
                      <a:r>
                        <a:rPr kumimoji="1" lang="en-US" altLang="ja-JP" sz="1050" b="1" dirty="0"/>
                        <a:t>2÷ </a:t>
                      </a:r>
                      <a:r>
                        <a:rPr kumimoji="1" lang="ja-JP" altLang="en-US" sz="1050" b="1" dirty="0"/>
                        <a:t>面積－</a:t>
                      </a:r>
                      <a:r>
                        <a:rPr kumimoji="1" lang="en-US" altLang="ja-JP" sz="1050" b="1" dirty="0"/>
                        <a:t>1.0</a:t>
                      </a:r>
                      <a:r>
                        <a:rPr kumimoji="1" lang="ja-JP" altLang="en-US" sz="1050" b="1" dirty="0"/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356094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/>
                        <a:t>worst concavity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コンターの凹部強度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3745432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900" b="1"/>
                        <a:t>worst concave </a:t>
                      </a:r>
                      <a:r>
                        <a:rPr kumimoji="1" lang="en-US" altLang="ja-JP" sz="900" b="1" dirty="0"/>
                        <a:t>points</a:t>
                      </a:r>
                      <a:endParaRPr kumimoji="1" lang="ja-JP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コンターの凹点の数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796856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1050" b="1"/>
                        <a:t>worst symmetry</a:t>
                      </a:r>
                      <a:endParaRPr kumimoji="1" lang="ja-JP" altLang="en-US" sz="105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対称性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358171"/>
                  </a:ext>
                </a:extLst>
              </a:tr>
              <a:tr h="245153">
                <a:tc>
                  <a:txBody>
                    <a:bodyPr/>
                    <a:lstStyle/>
                    <a:p>
                      <a:r>
                        <a:rPr kumimoji="1" lang="en-US" altLang="ja-JP" sz="800" b="1"/>
                        <a:t>worst fractal </a:t>
                      </a:r>
                      <a:r>
                        <a:rPr kumimoji="1" lang="en-US" altLang="ja-JP" sz="800" b="1" dirty="0"/>
                        <a:t>dimension</a:t>
                      </a:r>
                      <a:endParaRPr kumimoji="1" lang="ja-JP" alt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b="1" dirty="0"/>
                        <a:t>フラクタル次元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050" dirty="0"/>
                        <a:t>最悪値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420211"/>
                  </a:ext>
                </a:extLst>
              </a:tr>
            </a:tbl>
          </a:graphicData>
        </a:graphic>
      </p:graphicFrame>
      <p:sp>
        <p:nvSpPr>
          <p:cNvPr id="9" name="正方形/長方形 8"/>
          <p:cNvSpPr/>
          <p:nvPr/>
        </p:nvSpPr>
        <p:spPr>
          <a:xfrm>
            <a:off x="376057" y="249382"/>
            <a:ext cx="898139" cy="40732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/>
              <a:t>分類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2231230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2" ma:contentTypeDescription="新しいドキュメントを作成します。" ma:contentTypeScope="" ma:versionID="75243487bf068d93aeb8082cf687d0cb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843b0882eb267836bbba1fccf8d7d8a8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cc3c26-756f-41ab-80ed-43e7289fee5b">
      <Terms xmlns="http://schemas.microsoft.com/office/infopath/2007/PartnerControls"/>
    </lcf76f155ced4ddcb4097134ff3c332f>
    <TaxCatchAll xmlns="55239288-d498-4dd6-9609-491b39ec8fa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CE59EF-86F8-438A-8424-9688BC4A7153}"/>
</file>

<file path=customXml/itemProps2.xml><?xml version="1.0" encoding="utf-8"?>
<ds:datastoreItem xmlns:ds="http://schemas.openxmlformats.org/officeDocument/2006/customXml" ds:itemID="{850A6A89-5B33-4D9C-A757-9745B6D5CE8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0EE413-B7BA-4525-AC3C-E5EBE713BB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260</Words>
  <Application>Microsoft Office PowerPoint</Application>
  <PresentationFormat>ワイド画面</PresentationFormat>
  <Paragraphs>101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効果測定について</dc:title>
  <dc:creator>student</dc:creator>
  <cp:lastModifiedBy>竹井 一馬</cp:lastModifiedBy>
  <cp:revision>46</cp:revision>
  <dcterms:created xsi:type="dcterms:W3CDTF">2022-02-04T03:49:48Z</dcterms:created>
  <dcterms:modified xsi:type="dcterms:W3CDTF">2023-12-13T08:11:32Z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