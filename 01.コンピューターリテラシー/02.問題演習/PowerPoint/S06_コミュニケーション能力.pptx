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diagrams/drawing1.xml" ContentType="application/vnd.ms-office.drawingml.diagramDrawing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sldIdLst>
    <p:sldId id="256" r:id="rId2"/>
    <p:sldId id="262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210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>
        <c:manualLayout>
          <c:layoutTarget val="inner"/>
          <c:xMode val="edge"/>
          <c:yMode val="edge"/>
          <c:x val="9.844129434491973E-2"/>
          <c:y val="0.12072976174225032"/>
          <c:w val="0.4461681018801662"/>
          <c:h val="0.83257195832638142"/>
        </c:manualLayout>
      </c:layout>
      <c:pieChart>
        <c:varyColors val="1"/>
        <c:ser>
          <c:idx val="0"/>
          <c:order val="0"/>
          <c:tx>
            <c:strRef>
              <c:f>Sheet1!$C$1</c:f>
              <c:strCache>
                <c:ptCount val="1"/>
              </c:strCache>
            </c:strRef>
          </c:tx>
          <c:dPt>
            <c:idx val="0"/>
            <c:bubble3D val="0"/>
            <c:explosion val="24"/>
            <c:extLst>
              <c:ext xmlns:c16="http://schemas.microsoft.com/office/drawing/2014/chart" uri="{C3380CC4-5D6E-409C-BE32-E72D297353CC}">
                <c16:uniqueId val="{00000000-CB4D-4099-A17F-330D8F9B3967}"/>
              </c:ext>
            </c:extLst>
          </c:dPt>
          <c:cat>
            <c:strRef>
              <c:f>Sheet1!$A$2:$A$10</c:f>
              <c:strCache>
                <c:ptCount val="9"/>
                <c:pt idx="0">
                  <c:v>コミュニケーション能力</c:v>
                </c:pt>
                <c:pt idx="1">
                  <c:v>チャレンジ精神</c:v>
                </c:pt>
                <c:pt idx="2">
                  <c:v>行動力</c:v>
                </c:pt>
                <c:pt idx="3">
                  <c:v>主体性</c:v>
                </c:pt>
                <c:pt idx="4">
                  <c:v>協調性</c:v>
                </c:pt>
                <c:pt idx="5">
                  <c:v>責任感</c:v>
                </c:pt>
                <c:pt idx="6">
                  <c:v>誠実性</c:v>
                </c:pt>
                <c:pt idx="7">
                  <c:v>独創性</c:v>
                </c:pt>
                <c:pt idx="8">
                  <c:v>企画力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75</c:v>
                </c:pt>
                <c:pt idx="1">
                  <c:v>57</c:v>
                </c:pt>
                <c:pt idx="3">
                  <c:v>47</c:v>
                </c:pt>
                <c:pt idx="4">
                  <c:v>13</c:v>
                </c:pt>
                <c:pt idx="5">
                  <c:v>35</c:v>
                </c:pt>
                <c:pt idx="6">
                  <c:v>32</c:v>
                </c:pt>
                <c:pt idx="7">
                  <c:v>18</c:v>
                </c:pt>
                <c:pt idx="8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D-4099-A17F-330D8F9B3967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</c:strCache>
            </c:strRef>
          </c:tx>
          <c:cat>
            <c:strRef>
              <c:f>Sheet1!$A$2:$A$10</c:f>
              <c:strCache>
                <c:ptCount val="9"/>
                <c:pt idx="0">
                  <c:v>コミュニケーション能力</c:v>
                </c:pt>
                <c:pt idx="1">
                  <c:v>チャレンジ精神</c:v>
                </c:pt>
                <c:pt idx="2">
                  <c:v>行動力</c:v>
                </c:pt>
                <c:pt idx="3">
                  <c:v>主体性</c:v>
                </c:pt>
                <c:pt idx="4">
                  <c:v>協調性</c:v>
                </c:pt>
                <c:pt idx="5">
                  <c:v>責任感</c:v>
                </c:pt>
                <c:pt idx="6">
                  <c:v>誠実性</c:v>
                </c:pt>
                <c:pt idx="7">
                  <c:v>独創性</c:v>
                </c:pt>
                <c:pt idx="8">
                  <c:v>企画力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</c:numCache>
            </c:numRef>
          </c:val>
          <c:extLst>
            <c:ext xmlns:c16="http://schemas.microsoft.com/office/drawing/2014/chart" uri="{C3380CC4-5D6E-409C-BE32-E72D297353CC}">
              <c16:uniqueId val="{00000002-CB4D-4099-A17F-330D8F9B3967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</c:strCache>
            </c:strRef>
          </c:tx>
          <c:dPt>
            <c:idx val="0"/>
            <c:bubble3D val="0"/>
            <c:spPr>
              <a:ln w="25400"/>
            </c:spPr>
            <c:extLst>
              <c:ext xmlns:c16="http://schemas.microsoft.com/office/drawing/2014/chart" uri="{C3380CC4-5D6E-409C-BE32-E72D297353CC}">
                <c16:uniqueId val="{00000004-CB4D-4099-A17F-330D8F9B3967}"/>
              </c:ext>
            </c:extLst>
          </c:dPt>
          <c:cat>
            <c:strRef>
              <c:f>Sheet1!$A$2:$A$10</c:f>
              <c:strCache>
                <c:ptCount val="9"/>
                <c:pt idx="0">
                  <c:v>コミュニケーション能力</c:v>
                </c:pt>
                <c:pt idx="1">
                  <c:v>チャレンジ精神</c:v>
                </c:pt>
                <c:pt idx="2">
                  <c:v>行動力</c:v>
                </c:pt>
                <c:pt idx="3">
                  <c:v>主体性</c:v>
                </c:pt>
                <c:pt idx="4">
                  <c:v>協調性</c:v>
                </c:pt>
                <c:pt idx="5">
                  <c:v>責任感</c:v>
                </c:pt>
                <c:pt idx="6">
                  <c:v>誠実性</c:v>
                </c:pt>
                <c:pt idx="7">
                  <c:v>独創性</c:v>
                </c:pt>
                <c:pt idx="8">
                  <c:v>企画力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</c:numCache>
            </c:numRef>
          </c:val>
          <c:extLst>
            <c:ext xmlns:c16="http://schemas.microsoft.com/office/drawing/2014/chart" uri="{C3380CC4-5D6E-409C-BE32-E72D297353CC}">
              <c16:uniqueId val="{00000005-CB4D-4099-A17F-330D8F9B3967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</c:strCache>
            </c:strRef>
          </c:tx>
          <c:cat>
            <c:strRef>
              <c:f>Sheet1!$A$2:$A$10</c:f>
              <c:strCache>
                <c:ptCount val="9"/>
                <c:pt idx="0">
                  <c:v>コミュニケーション能力</c:v>
                </c:pt>
                <c:pt idx="1">
                  <c:v>チャレンジ精神</c:v>
                </c:pt>
                <c:pt idx="2">
                  <c:v>行動力</c:v>
                </c:pt>
                <c:pt idx="3">
                  <c:v>主体性</c:v>
                </c:pt>
                <c:pt idx="4">
                  <c:v>協調性</c:v>
                </c:pt>
                <c:pt idx="5">
                  <c:v>責任感</c:v>
                </c:pt>
                <c:pt idx="6">
                  <c:v>誠実性</c:v>
                </c:pt>
                <c:pt idx="7">
                  <c:v>独創性</c:v>
                </c:pt>
                <c:pt idx="8">
                  <c:v>企画力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</c:numCache>
            </c:numRef>
          </c:val>
          <c:extLst>
            <c:ext xmlns:c16="http://schemas.microsoft.com/office/drawing/2014/chart" uri="{C3380CC4-5D6E-409C-BE32-E72D297353CC}">
              <c16:uniqueId val="{00000006-CB4D-4099-A17F-330D8F9B3967}"/>
            </c:ext>
          </c:extLst>
        </c:ser>
        <c:ser>
          <c:idx val="4"/>
          <c:order val="4"/>
          <c:tx>
            <c:strRef>
              <c:f>Sheet1!$G$1</c:f>
              <c:strCache>
                <c:ptCount val="1"/>
              </c:strCache>
            </c:strRef>
          </c:tx>
          <c:cat>
            <c:strRef>
              <c:f>Sheet1!$A$2:$A$10</c:f>
              <c:strCache>
                <c:ptCount val="9"/>
                <c:pt idx="0">
                  <c:v>コミュニケーション能力</c:v>
                </c:pt>
                <c:pt idx="1">
                  <c:v>チャレンジ精神</c:v>
                </c:pt>
                <c:pt idx="2">
                  <c:v>行動力</c:v>
                </c:pt>
                <c:pt idx="3">
                  <c:v>主体性</c:v>
                </c:pt>
                <c:pt idx="4">
                  <c:v>協調性</c:v>
                </c:pt>
                <c:pt idx="5">
                  <c:v>責任感</c:v>
                </c:pt>
                <c:pt idx="6">
                  <c:v>誠実性</c:v>
                </c:pt>
                <c:pt idx="7">
                  <c:v>独創性</c:v>
                </c:pt>
                <c:pt idx="8">
                  <c:v>企画力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</c:numCache>
            </c:numRef>
          </c:val>
          <c:extLst>
            <c:ext xmlns:c16="http://schemas.microsoft.com/office/drawing/2014/chart" uri="{C3380CC4-5D6E-409C-BE32-E72D297353CC}">
              <c16:uniqueId val="{00000007-CB4D-4099-A17F-330D8F9B3967}"/>
            </c:ext>
          </c:extLst>
        </c:ser>
        <c:ser>
          <c:idx val="5"/>
          <c:order val="5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コミュニケーション能力</c:v>
                </c:pt>
                <c:pt idx="1">
                  <c:v>チャレンジ精神</c:v>
                </c:pt>
                <c:pt idx="2">
                  <c:v>行動力</c:v>
                </c:pt>
                <c:pt idx="3">
                  <c:v>主体性</c:v>
                </c:pt>
                <c:pt idx="4">
                  <c:v>協調性</c:v>
                </c:pt>
                <c:pt idx="5">
                  <c:v>責任感</c:v>
                </c:pt>
                <c:pt idx="6">
                  <c:v>誠実性</c:v>
                </c:pt>
                <c:pt idx="7">
                  <c:v>独創性</c:v>
                </c:pt>
                <c:pt idx="8">
                  <c:v>企画力</c:v>
                </c:pt>
              </c:strCache>
            </c:strRef>
          </c:cat>
          <c:val>
            <c:numRef>
              <c:f>Sheet1!$G$2:$G$10</c:f>
              <c:numCache>
                <c:formatCode>General</c:formatCode>
                <c:ptCount val="9"/>
              </c:numCache>
            </c:numRef>
          </c:val>
          <c:extLst>
            <c:ext xmlns:c16="http://schemas.microsoft.com/office/drawing/2014/chart" uri="{C3380CC4-5D6E-409C-BE32-E72D297353CC}">
              <c16:uniqueId val="{00000008-CB4D-4099-A17F-330D8F9B39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59362147950679656"/>
          <c:y val="0.23808966180236127"/>
          <c:w val="0.39711931825039343"/>
          <c:h val="0.63989210693945153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ja-JP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3CE6CC-1214-46C2-ABDA-3B8ABC04CA42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8FD53209-5336-4845-B292-B326A97EF69F}">
      <dgm:prSet phldrT="[テキスト]" custT="1"/>
      <dgm:spPr/>
      <dgm:t>
        <a:bodyPr/>
        <a:lstStyle/>
        <a:p>
          <a:r>
            <a:rPr lang="ja-JP" altLang="en-US" sz="2800" dirty="0"/>
            <a:t>指示命令型</a:t>
          </a:r>
        </a:p>
        <a:p>
          <a:r>
            <a:rPr kumimoji="1" lang="ja-JP" altLang="en-US" sz="2800" dirty="0"/>
            <a:t>一方通行</a:t>
          </a:r>
        </a:p>
      </dgm:t>
    </dgm:pt>
    <dgm:pt modelId="{37B87B5B-1506-4C08-A72B-ECFA7490F524}" type="parTrans" cxnId="{B3409896-D2E8-43A5-9C5C-4B74027F8826}">
      <dgm:prSet/>
      <dgm:spPr/>
      <dgm:t>
        <a:bodyPr/>
        <a:lstStyle/>
        <a:p>
          <a:endParaRPr kumimoji="1" lang="ja-JP" altLang="en-US"/>
        </a:p>
      </dgm:t>
    </dgm:pt>
    <dgm:pt modelId="{EB139FA2-903B-41CF-9A8D-D492D92772E4}" type="sibTrans" cxnId="{B3409896-D2E8-43A5-9C5C-4B74027F8826}">
      <dgm:prSet/>
      <dgm:spPr/>
      <dgm:t>
        <a:bodyPr/>
        <a:lstStyle/>
        <a:p>
          <a:endParaRPr kumimoji="1" lang="ja-JP" altLang="en-US"/>
        </a:p>
      </dgm:t>
    </dgm:pt>
    <dgm:pt modelId="{72A62CE1-7B20-4BC4-8F8B-2988C636D524}">
      <dgm:prSet phldrT="[テキスト]" custT="1"/>
      <dgm:spPr/>
      <dgm:t>
        <a:bodyPr/>
        <a:lstStyle/>
        <a:p>
          <a:r>
            <a:rPr lang="ja-JP" altLang="en-US" sz="2800" dirty="0"/>
            <a:t>質問型</a:t>
          </a:r>
        </a:p>
        <a:p>
          <a:r>
            <a:rPr kumimoji="1" lang="ja-JP" altLang="en-US" sz="2800" dirty="0"/>
            <a:t>双方向</a:t>
          </a:r>
        </a:p>
      </dgm:t>
    </dgm:pt>
    <dgm:pt modelId="{8008E726-D292-4EE1-B209-71FD13DC6A5E}" type="parTrans" cxnId="{A438E377-D4B3-43AC-8713-6468E99A86A9}">
      <dgm:prSet/>
      <dgm:spPr/>
      <dgm:t>
        <a:bodyPr/>
        <a:lstStyle/>
        <a:p>
          <a:endParaRPr kumimoji="1" lang="ja-JP" altLang="en-US"/>
        </a:p>
      </dgm:t>
    </dgm:pt>
    <dgm:pt modelId="{235D2F43-DBB3-408C-9A59-0D719CAF4C58}" type="sibTrans" cxnId="{A438E377-D4B3-43AC-8713-6468E99A86A9}">
      <dgm:prSet/>
      <dgm:spPr/>
      <dgm:t>
        <a:bodyPr/>
        <a:lstStyle/>
        <a:p>
          <a:endParaRPr kumimoji="1" lang="ja-JP" altLang="en-US"/>
        </a:p>
      </dgm:t>
    </dgm:pt>
    <dgm:pt modelId="{C9ED75F7-D6DA-4D16-BAB7-8B88432B2A55}" type="pres">
      <dgm:prSet presAssocID="{FA3CE6CC-1214-46C2-ABDA-3B8ABC04CA42}" presName="arrowDiagram" presStyleCnt="0">
        <dgm:presLayoutVars>
          <dgm:chMax val="5"/>
          <dgm:dir/>
          <dgm:resizeHandles val="exact"/>
        </dgm:presLayoutVars>
      </dgm:prSet>
      <dgm:spPr/>
    </dgm:pt>
    <dgm:pt modelId="{7C725EB5-29A0-403C-8759-9E59D41AFDD2}" type="pres">
      <dgm:prSet presAssocID="{FA3CE6CC-1214-46C2-ABDA-3B8ABC04CA42}" presName="arrow" presStyleLbl="bgShp" presStyleIdx="0" presStyleCnt="1" custLinFactNeighborX="-2344" custLinFactNeighborY="-25833"/>
      <dgm:spPr/>
    </dgm:pt>
    <dgm:pt modelId="{CF34A6EA-C981-4EC9-8F3E-4875DA85DD2E}" type="pres">
      <dgm:prSet presAssocID="{FA3CE6CC-1214-46C2-ABDA-3B8ABC04CA42}" presName="arrowDiagram2" presStyleCnt="0"/>
      <dgm:spPr/>
    </dgm:pt>
    <dgm:pt modelId="{C25A2982-15E4-4E57-B043-EA3312441A48}" type="pres">
      <dgm:prSet presAssocID="{8FD53209-5336-4845-B292-B326A97EF69F}" presName="bullet2a" presStyleLbl="node1" presStyleIdx="0" presStyleCnt="2"/>
      <dgm:spPr/>
    </dgm:pt>
    <dgm:pt modelId="{AC7D539F-FAE6-4B2D-A87D-B2F80125B2B6}" type="pres">
      <dgm:prSet presAssocID="{8FD53209-5336-4845-B292-B326A97EF69F}" presName="textBox2a" presStyleLbl="revTx" presStyleIdx="0" presStyleCnt="2">
        <dgm:presLayoutVars>
          <dgm:bulletEnabled val="1"/>
        </dgm:presLayoutVars>
      </dgm:prSet>
      <dgm:spPr/>
    </dgm:pt>
    <dgm:pt modelId="{0FC7E959-78F8-4D63-9E72-A56CC779EB83}" type="pres">
      <dgm:prSet presAssocID="{72A62CE1-7B20-4BC4-8F8B-2988C636D524}" presName="bullet2b" presStyleLbl="node1" presStyleIdx="1" presStyleCnt="2"/>
      <dgm:spPr/>
    </dgm:pt>
    <dgm:pt modelId="{7B0579CA-CD21-4D69-8413-F7A98F346C0F}" type="pres">
      <dgm:prSet presAssocID="{72A62CE1-7B20-4BC4-8F8B-2988C636D524}" presName="textBox2b" presStyleLbl="revTx" presStyleIdx="1" presStyleCnt="2">
        <dgm:presLayoutVars>
          <dgm:bulletEnabled val="1"/>
        </dgm:presLayoutVars>
      </dgm:prSet>
      <dgm:spPr/>
    </dgm:pt>
  </dgm:ptLst>
  <dgm:cxnLst>
    <dgm:cxn modelId="{A438E377-D4B3-43AC-8713-6468E99A86A9}" srcId="{FA3CE6CC-1214-46C2-ABDA-3B8ABC04CA42}" destId="{72A62CE1-7B20-4BC4-8F8B-2988C636D524}" srcOrd="1" destOrd="0" parTransId="{8008E726-D292-4EE1-B209-71FD13DC6A5E}" sibTransId="{235D2F43-DBB3-408C-9A59-0D719CAF4C58}"/>
    <dgm:cxn modelId="{B3409896-D2E8-43A5-9C5C-4B74027F8826}" srcId="{FA3CE6CC-1214-46C2-ABDA-3B8ABC04CA42}" destId="{8FD53209-5336-4845-B292-B326A97EF69F}" srcOrd="0" destOrd="0" parTransId="{37B87B5B-1506-4C08-A72B-ECFA7490F524}" sibTransId="{EB139FA2-903B-41CF-9A8D-D492D92772E4}"/>
    <dgm:cxn modelId="{323D8DA8-6488-4B72-9BB1-1B71FBD0F1CA}" type="presOf" srcId="{8FD53209-5336-4845-B292-B326A97EF69F}" destId="{AC7D539F-FAE6-4B2D-A87D-B2F80125B2B6}" srcOrd="0" destOrd="0" presId="urn:microsoft.com/office/officeart/2005/8/layout/arrow2"/>
    <dgm:cxn modelId="{BBCC91B0-66F2-4332-AE6E-9917650E295A}" type="presOf" srcId="{FA3CE6CC-1214-46C2-ABDA-3B8ABC04CA42}" destId="{C9ED75F7-D6DA-4D16-BAB7-8B88432B2A55}" srcOrd="0" destOrd="0" presId="urn:microsoft.com/office/officeart/2005/8/layout/arrow2"/>
    <dgm:cxn modelId="{8CBF02BB-D493-4EA0-868D-5A268316C62C}" type="presOf" srcId="{72A62CE1-7B20-4BC4-8F8B-2988C636D524}" destId="{7B0579CA-CD21-4D69-8413-F7A98F346C0F}" srcOrd="0" destOrd="0" presId="urn:microsoft.com/office/officeart/2005/8/layout/arrow2"/>
    <dgm:cxn modelId="{64FB5F82-B56B-46BF-A645-90B08C8E7D5C}" type="presParOf" srcId="{C9ED75F7-D6DA-4D16-BAB7-8B88432B2A55}" destId="{7C725EB5-29A0-403C-8759-9E59D41AFDD2}" srcOrd="0" destOrd="0" presId="urn:microsoft.com/office/officeart/2005/8/layout/arrow2"/>
    <dgm:cxn modelId="{E51AC7A1-E0ED-43A9-A5C7-ACDB473095D5}" type="presParOf" srcId="{C9ED75F7-D6DA-4D16-BAB7-8B88432B2A55}" destId="{CF34A6EA-C981-4EC9-8F3E-4875DA85DD2E}" srcOrd="1" destOrd="0" presId="urn:microsoft.com/office/officeart/2005/8/layout/arrow2"/>
    <dgm:cxn modelId="{A424347F-C659-4637-B721-325E570C73FC}" type="presParOf" srcId="{CF34A6EA-C981-4EC9-8F3E-4875DA85DD2E}" destId="{C25A2982-15E4-4E57-B043-EA3312441A48}" srcOrd="0" destOrd="0" presId="urn:microsoft.com/office/officeart/2005/8/layout/arrow2"/>
    <dgm:cxn modelId="{7E091453-6C5B-44B3-9258-DD277C2D8053}" type="presParOf" srcId="{CF34A6EA-C981-4EC9-8F3E-4875DA85DD2E}" destId="{AC7D539F-FAE6-4B2D-A87D-B2F80125B2B6}" srcOrd="1" destOrd="0" presId="urn:microsoft.com/office/officeart/2005/8/layout/arrow2"/>
    <dgm:cxn modelId="{8462F88F-C10D-4B53-9240-0CE822A5DD24}" type="presParOf" srcId="{CF34A6EA-C981-4EC9-8F3E-4875DA85DD2E}" destId="{0FC7E959-78F8-4D63-9E72-A56CC779EB83}" srcOrd="2" destOrd="0" presId="urn:microsoft.com/office/officeart/2005/8/layout/arrow2"/>
    <dgm:cxn modelId="{DC07DF86-03E0-483D-8068-584974C6C721}" type="presParOf" srcId="{CF34A6EA-C981-4EC9-8F3E-4875DA85DD2E}" destId="{7B0579CA-CD21-4D69-8413-F7A98F346C0F}" srcOrd="3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725EB5-29A0-403C-8759-9E59D41AFDD2}">
      <dsp:nvSpPr>
        <dsp:cNvPr id="0" name=""/>
        <dsp:cNvSpPr/>
      </dsp:nvSpPr>
      <dsp:spPr>
        <a:xfrm>
          <a:off x="0" y="0"/>
          <a:ext cx="6096000" cy="381000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5A2982-15E4-4E57-B043-EA3312441A48}">
      <dsp:nvSpPr>
        <dsp:cNvPr id="0" name=""/>
        <dsp:cNvSpPr/>
      </dsp:nvSpPr>
      <dsp:spPr>
        <a:xfrm>
          <a:off x="1417320" y="2203449"/>
          <a:ext cx="213360" cy="2133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7D539F-FAE6-4B2D-A87D-B2F80125B2B6}">
      <dsp:nvSpPr>
        <dsp:cNvPr id="0" name=""/>
        <dsp:cNvSpPr/>
      </dsp:nvSpPr>
      <dsp:spPr>
        <a:xfrm>
          <a:off x="1524000" y="2310129"/>
          <a:ext cx="1981200" cy="1626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055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800" kern="1200" dirty="0"/>
            <a:t>指示命令型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kern="1200" dirty="0"/>
            <a:t>一方通行</a:t>
          </a:r>
        </a:p>
      </dsp:txBody>
      <dsp:txXfrm>
        <a:off x="1524000" y="2310129"/>
        <a:ext cx="1981200" cy="1626870"/>
      </dsp:txXfrm>
    </dsp:sp>
    <dsp:sp modelId="{0FC7E959-78F8-4D63-9E72-A56CC779EB83}">
      <dsp:nvSpPr>
        <dsp:cNvPr id="0" name=""/>
        <dsp:cNvSpPr/>
      </dsp:nvSpPr>
      <dsp:spPr>
        <a:xfrm>
          <a:off x="3383280" y="1231899"/>
          <a:ext cx="365760" cy="365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579CA-CD21-4D69-8413-F7A98F346C0F}">
      <dsp:nvSpPr>
        <dsp:cNvPr id="0" name=""/>
        <dsp:cNvSpPr/>
      </dsp:nvSpPr>
      <dsp:spPr>
        <a:xfrm>
          <a:off x="3566160" y="1414779"/>
          <a:ext cx="1981200" cy="2522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809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800" kern="1200" dirty="0"/>
            <a:t>質問型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kern="1200" dirty="0"/>
            <a:t>双方向</a:t>
          </a:r>
        </a:p>
      </dsp:txBody>
      <dsp:txXfrm>
        <a:off x="3566160" y="1414779"/>
        <a:ext cx="1981200" cy="2522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A0CBD-FD8F-4B3F-BBAC-240AFD7CD76F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8824B9-94C4-486B-ADFD-6A30C32B330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709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C081B-B937-4E49-8721-4E9AE91C2F18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6A7-6638-491A-B9F2-65DFC54EF82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9111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C081B-B937-4E49-8721-4E9AE91C2F18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6A7-6638-491A-B9F2-65DFC54EF82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3875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C081B-B937-4E49-8721-4E9AE91C2F18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6A7-6638-491A-B9F2-65DFC54EF82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971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C081B-B937-4E49-8721-4E9AE91C2F18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6A7-6638-491A-B9F2-65DFC54EF82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2809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C081B-B937-4E49-8721-4E9AE91C2F18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6A7-6638-491A-B9F2-65DFC54EF82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6625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C081B-B937-4E49-8721-4E9AE91C2F18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6A7-6638-491A-B9F2-65DFC54EF82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5645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C081B-B937-4E49-8721-4E9AE91C2F18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6A7-6638-491A-B9F2-65DFC54EF82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9689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C081B-B937-4E49-8721-4E9AE91C2F18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6A7-6638-491A-B9F2-65DFC54EF82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1101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C081B-B937-4E49-8721-4E9AE91C2F18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6A7-6638-491A-B9F2-65DFC54EF82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7187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C081B-B937-4E49-8721-4E9AE91C2F18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6A7-6638-491A-B9F2-65DFC54EF82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0832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C081B-B937-4E49-8721-4E9AE91C2F18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36A7-6638-491A-B9F2-65DFC54EF82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3203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C081B-B937-4E49-8721-4E9AE91C2F18}" type="datetimeFigureOut">
              <a:rPr kumimoji="1" lang="ja-JP" altLang="en-US" smtClean="0"/>
              <a:pPr/>
              <a:t>2022/5/16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436A7-6638-491A-B9F2-65DFC54EF82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54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コミュニケーション</a:t>
            </a:r>
            <a:br>
              <a:rPr kumimoji="1" lang="ja-JP" altLang="en-US" dirty="0"/>
            </a:br>
            <a:r>
              <a:rPr kumimoji="1" lang="ja-JP" altLang="en-US" dirty="0"/>
              <a:t>能力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今一番必要とされている能力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コミュニケーションの変化</a:t>
            </a:r>
          </a:p>
        </p:txBody>
      </p:sp>
      <p:graphicFrame>
        <p:nvGraphicFramePr>
          <p:cNvPr id="6" name="図表 5"/>
          <p:cNvGraphicFramePr/>
          <p:nvPr/>
        </p:nvGraphicFramePr>
        <p:xfrm>
          <a:off x="3667108" y="16430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角丸四角形 7"/>
          <p:cNvSpPr/>
          <p:nvPr/>
        </p:nvSpPr>
        <p:spPr>
          <a:xfrm>
            <a:off x="1881158" y="2928934"/>
            <a:ext cx="3000396" cy="85725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000" b="1" dirty="0">
                <a:solidFill>
                  <a:schemeClr val="tx1"/>
                </a:solidFill>
              </a:rPr>
              <a:t>従来の</a:t>
            </a:r>
          </a:p>
          <a:p>
            <a:r>
              <a:rPr lang="ja-JP" altLang="en-US" sz="2000" b="1" dirty="0">
                <a:solidFill>
                  <a:schemeClr val="tx1"/>
                </a:solidFill>
              </a:rPr>
              <a:t>コミュニケーション</a:t>
            </a:r>
          </a:p>
        </p:txBody>
      </p:sp>
      <p:sp>
        <p:nvSpPr>
          <p:cNvPr id="9" name="角丸四角形 8"/>
          <p:cNvSpPr/>
          <p:nvPr/>
        </p:nvSpPr>
        <p:spPr>
          <a:xfrm>
            <a:off x="5095868" y="1785926"/>
            <a:ext cx="3000396" cy="85725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ja-JP" altLang="en-US" sz="2000" b="1" dirty="0">
                <a:solidFill>
                  <a:schemeClr val="tx1"/>
                </a:solidFill>
              </a:rPr>
              <a:t>これからの</a:t>
            </a:r>
          </a:p>
          <a:p>
            <a:pPr>
              <a:buNone/>
            </a:pPr>
            <a:r>
              <a:rPr lang="ja-JP" altLang="en-US" sz="2000" b="1" dirty="0"/>
              <a:t>コミュニケーション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企業の求める人材</a:t>
            </a:r>
          </a:p>
        </p:txBody>
      </p:sp>
      <p:graphicFrame>
        <p:nvGraphicFramePr>
          <p:cNvPr id="4" name="コンテンツ プレースホル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5218060"/>
              </p:ext>
            </p:extLst>
          </p:nvPr>
        </p:nvGraphicFramePr>
        <p:xfrm>
          <a:off x="1919536" y="1825625"/>
          <a:ext cx="8119814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ビジネスシーンにおける</a:t>
            </a:r>
            <a:br>
              <a:rPr kumimoji="1" lang="ja-JP" altLang="en-US" dirty="0"/>
            </a:br>
            <a:r>
              <a:rPr kumimoji="1" lang="ja-JP" altLang="en-US" dirty="0"/>
              <a:t>コミュニケーション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自分の考えやおかれている状況を分析</a:t>
            </a:r>
            <a:br>
              <a:rPr lang="ja-JP" altLang="en-US" dirty="0"/>
            </a:br>
            <a:r>
              <a:rPr lang="ja-JP" altLang="en-US" dirty="0"/>
              <a:t>⇒第三者に的確に伝える</a:t>
            </a:r>
          </a:p>
          <a:p>
            <a:endParaRPr lang="ja-JP" altLang="en-US" dirty="0"/>
          </a:p>
          <a:p>
            <a:r>
              <a:rPr lang="ja-JP" altLang="en-US" dirty="0"/>
              <a:t>他人の意見や考えを理解する</a:t>
            </a:r>
            <a:br>
              <a:rPr lang="ja-JP" altLang="en-US" dirty="0"/>
            </a:br>
            <a:r>
              <a:rPr lang="ja-JP" altLang="en-US" dirty="0"/>
              <a:t>⇒適切に対応できる</a:t>
            </a:r>
            <a:br>
              <a:rPr lang="ja-JP" altLang="en-US" dirty="0"/>
            </a:br>
            <a:r>
              <a:rPr lang="ja-JP" altLang="en-US" dirty="0"/>
              <a:t>⇒自分の考えや要求を正確に伝える</a:t>
            </a:r>
            <a:br>
              <a:rPr lang="ja-JP" altLang="en-US" dirty="0"/>
            </a:br>
            <a:r>
              <a:rPr lang="ja-JP" altLang="en-US" dirty="0"/>
              <a:t>⇒協力してものごとを進められる</a:t>
            </a:r>
            <a:endParaRPr kumimoji="1" lang="ja-JP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8BEBA3CD4E69545839402B5D4E5400B" ma:contentTypeVersion="10" ma:contentTypeDescription="新しいドキュメントを作成します。" ma:contentTypeScope="" ma:versionID="bdeae3f4f39e72b1741af8c5d4b0f168">
  <xsd:schema xmlns:xsd="http://www.w3.org/2001/XMLSchema" xmlns:xs="http://www.w3.org/2001/XMLSchema" xmlns:p="http://schemas.microsoft.com/office/2006/metadata/properties" xmlns:ns2="88cc3c26-756f-41ab-80ed-43e7289fee5b" xmlns:ns3="55239288-d498-4dd6-9609-491b39ec8fae" targetNamespace="http://schemas.microsoft.com/office/2006/metadata/properties" ma:root="true" ma:fieldsID="6b0dcd539c70dd7b9b03dca3495a1252" ns2:_="" ns3:_="">
    <xsd:import namespace="88cc3c26-756f-41ab-80ed-43e7289fee5b"/>
    <xsd:import namespace="55239288-d498-4dd6-9609-491b39ec8f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c3c26-756f-41ab-80ed-43e7289fe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39288-d498-4dd6-9609-491b39ec8fa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e377b91-0fea-45fa-b8c8-f24ea7d4323a}" ma:internalName="TaxCatchAll" ma:showField="CatchAllData" ma:web="55239288-d498-4dd6-9609-491b39ec8f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239288-d498-4dd6-9609-491b39ec8fae" xsi:nil="true"/>
    <lcf76f155ced4ddcb4097134ff3c332f xmlns="88cc3c26-756f-41ab-80ed-43e7289fee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DABCE5E-0A96-43CC-9F97-9601A017B318}"/>
</file>

<file path=customXml/itemProps2.xml><?xml version="1.0" encoding="utf-8"?>
<ds:datastoreItem xmlns:ds="http://schemas.openxmlformats.org/officeDocument/2006/customXml" ds:itemID="{04072574-68F1-404E-9777-3373654EF002}"/>
</file>

<file path=customXml/itemProps3.xml><?xml version="1.0" encoding="utf-8"?>
<ds:datastoreItem xmlns:ds="http://schemas.openxmlformats.org/officeDocument/2006/customXml" ds:itemID="{872EB446-2110-4608-9C4C-BCDCF25AFF4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</TotalTime>
  <Words>85</Words>
  <Application>Microsoft Office PowerPoint</Application>
  <PresentationFormat>ワイド画面</PresentationFormat>
  <Paragraphs>17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テーマ</vt:lpstr>
      <vt:lpstr>コミュニケーション 能力</vt:lpstr>
      <vt:lpstr>コミュニケーションの変化</vt:lpstr>
      <vt:lpstr>企業の求める人材</vt:lpstr>
      <vt:lpstr>ビジネスシーンにおける コミュニケーション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コミュニケーション能力</dc:title>
  <dc:creator>01 User</dc:creator>
  <cp:lastModifiedBy>User01</cp:lastModifiedBy>
  <cp:revision>21</cp:revision>
  <dcterms:created xsi:type="dcterms:W3CDTF">2009-08-23T13:12:16Z</dcterms:created>
  <dcterms:modified xsi:type="dcterms:W3CDTF">2022-05-16T12:59:20Z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0x01010058BEBA3CD4E69545839402B5D4E5400B</vt:lpwstr>
  </property>
</Properties>
</file>